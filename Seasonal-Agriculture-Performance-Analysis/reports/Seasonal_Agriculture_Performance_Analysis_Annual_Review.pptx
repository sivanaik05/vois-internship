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pPr algn="r"/>
            <a:r>
              <a:rPr sz="2000" b="1"/>
              <a:t>Siva Naik</a:t>
            </a:r>
            <a:br/>
            <a:r>
              <a:rPr sz="2000" b="1"/>
              <a:t>Vasireddy Venkatadri Institute of Technology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sz="2600" b="1"/>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r>
              <a:rPr sz="1600" b="1"/>
              <a:t>AICTE STU ID: ____________________</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sz="1700"/>
              <a:t>Agricultural performance is influenced by seasonal environmental conditions, farming practices, resource availability and market conditions. Raw data does not clearly show how performance changes across seasons. This project analyzes the dataset to identify seasonal patterns, trends, relationships and variations.</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sz="2700" b="1"/>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658368" y="713232"/>
            <a:ext cx="9235440" cy="502920"/>
          </a:xfrm>
          <a:prstGeom prst="rect">
            <a:avLst/>
          </a:prstGeom>
          <a:noFill/>
        </p:spPr>
        <p:txBody>
          <a:bodyPr wrap="square">
            <a:spAutoFit/>
          </a:bodyPr>
          <a:lstStyle/>
          <a:p>
            <a:pPr algn="l"/>
            <a:r>
              <a:rPr sz="2500" b="1">
                <a:solidFill>
                  <a:srgbClr val="1E1E1E"/>
                </a:solidFill>
                <a:latin typeface="Aptos"/>
              </a:rPr>
              <a:t>Project Description</a:t>
            </a:r>
          </a:p>
        </p:txBody>
      </p:sp>
      <p:sp>
        <p:nvSpPr>
          <p:cNvPr id="11" name="TextBox 10"/>
          <p:cNvSpPr txBox="1"/>
          <p:nvPr/>
        </p:nvSpPr>
        <p:spPr>
          <a:xfrm>
            <a:off x="822960" y="1508760"/>
            <a:ext cx="8595360" cy="1920240"/>
          </a:xfrm>
          <a:prstGeom prst="rect">
            <a:avLst/>
          </a:prstGeom>
          <a:noFill/>
        </p:spPr>
        <p:txBody>
          <a:bodyPr wrap="square">
            <a:spAutoFit/>
          </a:bodyPr>
          <a:lstStyle/>
          <a:p>
            <a:pPr algn="l"/>
            <a:r>
              <a:rPr sz="1800" b="0">
                <a:solidFill>
                  <a:srgbClr val="1E1E1E"/>
                </a:solidFill>
                <a:latin typeface="Aptos"/>
              </a:rPr>
              <a:t>This project analyzes 4,000 farm records covering seasons, crops, locations, environmental conditions, resource usage and economic performance. The workflow includes data exploration, cleaning, seasonal comparison, statistical analysis and visualization to derive evidence-based agricultural insights.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868680" y="1508760"/>
            <a:ext cx="8686800" cy="3383280"/>
          </a:xfrm>
          <a:prstGeom prst="rect">
            <a:avLst/>
          </a:prstGeom>
          <a:noFill/>
        </p:spPr>
        <p:txBody>
          <a:bodyPr wrap="square">
            <a:spAutoFit/>
          </a:bodyPr>
          <a:lstStyle/>
          <a:p>
            <a:pPr>
              <a:spcAft>
                <a:spcPts val="700"/>
              </a:spcAft>
            </a:pPr>
            <a:r>
              <a:rPr sz="2000">
                <a:solidFill>
                  <a:srgbClr val="232323"/>
                </a:solidFill>
                <a:latin typeface="Aptos"/>
              </a:rPr>
              <a:t>Farmers and agricultural planners</a:t>
            </a:r>
          </a:p>
          <a:p>
            <a:pPr>
              <a:spcAft>
                <a:spcPts val="700"/>
              </a:spcAft>
            </a:pPr>
            <a:r>
              <a:rPr sz="2000">
                <a:solidFill>
                  <a:srgbClr val="232323"/>
                </a:solidFill>
                <a:latin typeface="Aptos"/>
              </a:rPr>
              <a:t>Agricultural researchers and analysts</a:t>
            </a:r>
          </a:p>
          <a:p>
            <a:pPr>
              <a:spcAft>
                <a:spcPts val="700"/>
              </a:spcAft>
            </a:pPr>
            <a:r>
              <a:rPr sz="2000">
                <a:solidFill>
                  <a:srgbClr val="232323"/>
                </a:solidFill>
                <a:latin typeface="Aptos"/>
              </a:rPr>
              <a:t>Resource and irrigation planners</a:t>
            </a:r>
          </a:p>
          <a:p>
            <a:pPr>
              <a:spcAft>
                <a:spcPts val="700"/>
              </a:spcAft>
            </a:pPr>
            <a:r>
              <a:rPr sz="2000">
                <a:solidFill>
                  <a:srgbClr val="232323"/>
                </a:solidFill>
                <a:latin typeface="Aptos"/>
              </a:rPr>
              <a:t>Government and policy stakeholders</a:t>
            </a:r>
          </a:p>
          <a:p>
            <a:pPr>
              <a:spcAft>
                <a:spcPts val="700"/>
              </a:spcAft>
            </a:pPr>
            <a:r>
              <a:rPr sz="2000">
                <a:solidFill>
                  <a:srgbClr val="232323"/>
                </a:solidFill>
                <a:latin typeface="Aptos"/>
              </a:rPr>
              <a:t>Agri-business and market decision-makers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17" name="TextBox 16"/>
          <p:cNvSpPr txBox="1"/>
          <p:nvPr/>
        </p:nvSpPr>
        <p:spPr>
          <a:xfrm>
            <a:off x="868680" y="1417320"/>
            <a:ext cx="8869680" cy="4023360"/>
          </a:xfrm>
          <a:prstGeom prst="rect">
            <a:avLst/>
          </a:prstGeom>
          <a:noFill/>
        </p:spPr>
        <p:txBody>
          <a:bodyPr wrap="square">
            <a:spAutoFit/>
          </a:bodyPr>
          <a:lstStyle/>
          <a:p>
            <a:pPr>
              <a:spcAft>
                <a:spcPts val="700"/>
              </a:spcAft>
            </a:pPr>
            <a:r>
              <a:rPr sz="2000">
                <a:solidFill>
                  <a:srgbClr val="232323"/>
                </a:solidFill>
                <a:latin typeface="Aptos"/>
              </a:rPr>
              <a:t>Python – data analysis and processing</a:t>
            </a:r>
          </a:p>
          <a:p>
            <a:pPr>
              <a:spcAft>
                <a:spcPts val="700"/>
              </a:spcAft>
            </a:pPr>
            <a:r>
              <a:rPr sz="2000">
                <a:solidFill>
                  <a:srgbClr val="232323"/>
                </a:solidFill>
                <a:latin typeface="Aptos"/>
              </a:rPr>
              <a:t>Pandas &amp; NumPy – data cleaning, transformation and statistics</a:t>
            </a:r>
          </a:p>
          <a:p>
            <a:pPr>
              <a:spcAft>
                <a:spcPts val="700"/>
              </a:spcAft>
            </a:pPr>
            <a:r>
              <a:rPr sz="2000">
                <a:solidFill>
                  <a:srgbClr val="232323"/>
                </a:solidFill>
                <a:latin typeface="Aptos"/>
              </a:rPr>
              <a:t>Matplotlib &amp; Seaborn – visualization</a:t>
            </a:r>
          </a:p>
          <a:p>
            <a:pPr>
              <a:spcAft>
                <a:spcPts val="700"/>
              </a:spcAft>
            </a:pPr>
            <a:r>
              <a:rPr sz="2000">
                <a:solidFill>
                  <a:srgbClr val="232323"/>
                </a:solidFill>
                <a:latin typeface="Aptos"/>
              </a:rPr>
              <a:t>Jupyter Notebook – analysis documentation</a:t>
            </a:r>
          </a:p>
          <a:p>
            <a:pPr>
              <a:spcAft>
                <a:spcPts val="700"/>
              </a:spcAft>
            </a:pPr>
            <a:r>
              <a:rPr sz="2000">
                <a:solidFill>
                  <a:srgbClr val="232323"/>
                </a:solidFill>
                <a:latin typeface="Aptos"/>
              </a:rPr>
              <a:t>CSV dataset – source data</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822960" y="1325880"/>
            <a:ext cx="9601200" cy="411480"/>
          </a:xfrm>
          <a:prstGeom prst="rect">
            <a:avLst/>
          </a:prstGeom>
          <a:noFill/>
        </p:spPr>
        <p:txBody>
          <a:bodyPr wrap="square">
            <a:spAutoFit/>
          </a:bodyPr>
          <a:lstStyle/>
          <a:p>
            <a:pPr algn="l"/>
            <a:r>
              <a:rPr sz="2100" b="1">
                <a:solidFill>
                  <a:srgbClr val="1E1E1E"/>
                </a:solidFill>
                <a:latin typeface="Aptos"/>
              </a:rPr>
              <a:t>Dataset &amp; Analysis Overview</a:t>
            </a:r>
          </a:p>
        </p:txBody>
      </p:sp>
      <p:sp>
        <p:nvSpPr>
          <p:cNvPr id="25" name="Rounded Rectangle 24"/>
          <p:cNvSpPr/>
          <p:nvPr/>
        </p:nvSpPr>
        <p:spPr>
          <a:xfrm>
            <a:off x="868680" y="1965960"/>
            <a:ext cx="2057400" cy="1234440"/>
          </a:xfrm>
          <a:prstGeom prst="roundRect">
            <a:avLst/>
          </a:prstGeom>
          <a:solidFill>
            <a:srgbClr val="F2F8FB"/>
          </a:solidFill>
          <a:ln>
            <a:solidFill>
              <a:srgbClr val="50A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145A78"/>
                </a:solidFill>
                <a:latin typeface="Aptos"/>
              </a:rPr>
              <a:t>4,000</a:t>
            </a:r>
          </a:p>
          <a:p>
            <a:pPr algn="ctr"/>
            <a:r>
              <a:rPr sz="1000">
                <a:solidFill>
                  <a:srgbClr val="464646"/>
                </a:solidFill>
                <a:latin typeface="Aptos"/>
              </a:rPr>
              <a:t>Farm records</a:t>
            </a:r>
          </a:p>
        </p:txBody>
      </p:sp>
      <p:sp>
        <p:nvSpPr>
          <p:cNvPr id="26" name="Rounded Rectangle 25"/>
          <p:cNvSpPr/>
          <p:nvPr/>
        </p:nvSpPr>
        <p:spPr>
          <a:xfrm>
            <a:off x="3154680" y="1965960"/>
            <a:ext cx="2057400" cy="1234440"/>
          </a:xfrm>
          <a:prstGeom prst="roundRect">
            <a:avLst/>
          </a:prstGeom>
          <a:solidFill>
            <a:srgbClr val="F2F8FB"/>
          </a:solidFill>
          <a:ln>
            <a:solidFill>
              <a:srgbClr val="50A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145A78"/>
                </a:solidFill>
                <a:latin typeface="Aptos"/>
              </a:rPr>
              <a:t>3</a:t>
            </a:r>
          </a:p>
          <a:p>
            <a:pPr algn="ctr"/>
            <a:r>
              <a:rPr sz="1000">
                <a:solidFill>
                  <a:srgbClr val="464646"/>
                </a:solidFill>
                <a:latin typeface="Aptos"/>
              </a:rPr>
              <a:t>Seasons</a:t>
            </a:r>
          </a:p>
        </p:txBody>
      </p:sp>
      <p:sp>
        <p:nvSpPr>
          <p:cNvPr id="27" name="Rounded Rectangle 26"/>
          <p:cNvSpPr/>
          <p:nvPr/>
        </p:nvSpPr>
        <p:spPr>
          <a:xfrm>
            <a:off x="5440680" y="1965960"/>
            <a:ext cx="2057400" cy="1234440"/>
          </a:xfrm>
          <a:prstGeom prst="roundRect">
            <a:avLst/>
          </a:prstGeom>
          <a:solidFill>
            <a:srgbClr val="F2F8FB"/>
          </a:solidFill>
          <a:ln>
            <a:solidFill>
              <a:srgbClr val="50A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145A78"/>
                </a:solidFill>
                <a:latin typeface="Aptos"/>
              </a:rPr>
              <a:t>8</a:t>
            </a:r>
          </a:p>
          <a:p>
            <a:pPr algn="ctr"/>
            <a:r>
              <a:rPr sz="1000">
                <a:solidFill>
                  <a:srgbClr val="464646"/>
                </a:solidFill>
                <a:latin typeface="Aptos"/>
              </a:rPr>
              <a:t>Crop categories</a:t>
            </a:r>
          </a:p>
        </p:txBody>
      </p:sp>
      <p:sp>
        <p:nvSpPr>
          <p:cNvPr id="28" name="Rounded Rectangle 27"/>
          <p:cNvSpPr/>
          <p:nvPr/>
        </p:nvSpPr>
        <p:spPr>
          <a:xfrm>
            <a:off x="7726679" y="1965960"/>
            <a:ext cx="2057400" cy="1234440"/>
          </a:xfrm>
          <a:prstGeom prst="roundRect">
            <a:avLst/>
          </a:prstGeom>
          <a:solidFill>
            <a:srgbClr val="F2F8FB"/>
          </a:solidFill>
          <a:ln>
            <a:solidFill>
              <a:srgbClr val="50A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145A78"/>
                </a:solidFill>
                <a:latin typeface="Aptos"/>
              </a:rPr>
              <a:t>8</a:t>
            </a:r>
          </a:p>
          <a:p>
            <a:pPr algn="ctr"/>
            <a:r>
              <a:rPr sz="1000">
                <a:solidFill>
                  <a:srgbClr val="464646"/>
                </a:solidFill>
                <a:latin typeface="Aptos"/>
              </a:rPr>
              <a:t>States</a:t>
            </a:r>
          </a:p>
        </p:txBody>
      </p:sp>
      <p:sp>
        <p:nvSpPr>
          <p:cNvPr id="29" name="TextBox 28"/>
          <p:cNvSpPr txBox="1"/>
          <p:nvPr/>
        </p:nvSpPr>
        <p:spPr>
          <a:xfrm>
            <a:off x="914400" y="3657600"/>
            <a:ext cx="8869680" cy="1280160"/>
          </a:xfrm>
          <a:prstGeom prst="rect">
            <a:avLst/>
          </a:prstGeom>
          <a:noFill/>
        </p:spPr>
        <p:txBody>
          <a:bodyPr wrap="square">
            <a:spAutoFit/>
          </a:bodyPr>
          <a:lstStyle/>
          <a:p>
            <a:pPr algn="ctr"/>
            <a:r>
              <a:rPr sz="2000" b="1">
                <a:solidFill>
                  <a:srgbClr val="1E1E1E"/>
                </a:solidFill>
                <a:latin typeface="Aptos"/>
              </a:rPr>
              <a:t>Key analytical focus: seasonal performance, environmental variation, resource efficiency, crop profitability and regional differences.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sp>
        <p:nvSpPr>
          <p:cNvPr id="31" name="TextBox 30"/>
          <p:cNvSpPr txBox="1"/>
          <p:nvPr/>
        </p:nvSpPr>
        <p:spPr>
          <a:xfrm>
            <a:off x="822960" y="960120"/>
            <a:ext cx="9509760" cy="384048"/>
          </a:xfrm>
          <a:prstGeom prst="rect">
            <a:avLst/>
          </a:prstGeom>
          <a:noFill/>
        </p:spPr>
        <p:txBody>
          <a:bodyPr wrap="square">
            <a:spAutoFit/>
          </a:bodyPr>
          <a:lstStyle/>
          <a:p>
            <a:pPr algn="l"/>
            <a:r>
              <a:rPr sz="2000" b="1">
                <a:solidFill>
                  <a:srgbClr val="1E1E1E"/>
                </a:solidFill>
                <a:latin typeface="Aptos"/>
              </a:rPr>
              <a:t>Seasonal Performance</a:t>
            </a:r>
          </a:p>
        </p:txBody>
      </p:sp>
      <p:pic>
        <p:nvPicPr>
          <p:cNvPr id="32" name="Picture 31" descr="seasonal_performance.png"/>
          <p:cNvPicPr>
            <a:picLocks noChangeAspect="1"/>
          </p:cNvPicPr>
          <p:nvPr/>
        </p:nvPicPr>
        <p:blipFill>
          <a:blip r:embed="rId3"/>
          <a:stretch>
            <a:fillRect/>
          </a:stretch>
        </p:blipFill>
        <p:spPr>
          <a:xfrm>
            <a:off x="914400" y="1417320"/>
            <a:ext cx="8229600" cy="3794760"/>
          </a:xfrm>
          <a:prstGeom prst="rect">
            <a:avLst/>
          </a:prstGeom>
        </p:spPr>
      </p:pic>
      <p:sp>
        <p:nvSpPr>
          <p:cNvPr id="33" name="TextBox 32"/>
          <p:cNvSpPr txBox="1"/>
          <p:nvPr/>
        </p:nvSpPr>
        <p:spPr>
          <a:xfrm>
            <a:off x="914400" y="5321808"/>
            <a:ext cx="8412480" cy="502920"/>
          </a:xfrm>
          <a:prstGeom prst="rect">
            <a:avLst/>
          </a:prstGeom>
          <a:noFill/>
        </p:spPr>
        <p:txBody>
          <a:bodyPr wrap="square">
            <a:spAutoFit/>
          </a:bodyPr>
          <a:lstStyle/>
          <a:p>
            <a:pPr algn="ctr"/>
            <a:r>
              <a:rPr sz="1200" b="0">
                <a:solidFill>
                  <a:srgbClr val="464646"/>
                </a:solidFill>
                <a:latin typeface="Aptos"/>
              </a:rPr>
              <a:t>Kharif shows the highest average yield and average profit among the three seasons in the dataset.</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sp>
        <p:nvSpPr>
          <p:cNvPr id="31" name="TextBox 30"/>
          <p:cNvSpPr txBox="1"/>
          <p:nvPr/>
        </p:nvSpPr>
        <p:spPr>
          <a:xfrm>
            <a:off x="822960" y="960120"/>
            <a:ext cx="9509760" cy="384048"/>
          </a:xfrm>
          <a:prstGeom prst="rect">
            <a:avLst/>
          </a:prstGeom>
          <a:noFill/>
        </p:spPr>
        <p:txBody>
          <a:bodyPr wrap="square">
            <a:spAutoFit/>
          </a:bodyPr>
          <a:lstStyle/>
          <a:p>
            <a:pPr algn="l"/>
            <a:r>
              <a:rPr sz="2000" b="1">
                <a:solidFill>
                  <a:srgbClr val="1E1E1E"/>
                </a:solidFill>
                <a:latin typeface="Aptos"/>
              </a:rPr>
              <a:t>Environmental &amp; Resource Variation</a:t>
            </a:r>
          </a:p>
        </p:txBody>
      </p:sp>
      <p:pic>
        <p:nvPicPr>
          <p:cNvPr id="32" name="Picture 31" descr="seasonal_environment_resources.png"/>
          <p:cNvPicPr>
            <a:picLocks noChangeAspect="1"/>
          </p:cNvPicPr>
          <p:nvPr/>
        </p:nvPicPr>
        <p:blipFill>
          <a:blip r:embed="rId3"/>
          <a:stretch>
            <a:fillRect/>
          </a:stretch>
        </p:blipFill>
        <p:spPr>
          <a:xfrm>
            <a:off x="914400" y="1417320"/>
            <a:ext cx="8229600" cy="3794760"/>
          </a:xfrm>
          <a:prstGeom prst="rect">
            <a:avLst/>
          </a:prstGeom>
        </p:spPr>
      </p:pic>
      <p:sp>
        <p:nvSpPr>
          <p:cNvPr id="33" name="TextBox 32"/>
          <p:cNvSpPr txBox="1"/>
          <p:nvPr/>
        </p:nvSpPr>
        <p:spPr>
          <a:xfrm>
            <a:off x="914400" y="5321808"/>
            <a:ext cx="8412480" cy="502920"/>
          </a:xfrm>
          <a:prstGeom prst="rect">
            <a:avLst/>
          </a:prstGeom>
          <a:noFill/>
        </p:spPr>
        <p:txBody>
          <a:bodyPr wrap="square">
            <a:spAutoFit/>
          </a:bodyPr>
          <a:lstStyle/>
          <a:p>
            <a:pPr algn="ctr"/>
            <a:r>
              <a:rPr sz="1200" b="0">
                <a:solidFill>
                  <a:srgbClr val="464646"/>
                </a:solidFill>
                <a:latin typeface="Aptos"/>
              </a:rPr>
              <a:t>Rainfall, water use and disease/pest risk vary across seasons, supporting seasonal comparison of operating conditions.</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sp>
        <p:nvSpPr>
          <p:cNvPr id="31" name="TextBox 30"/>
          <p:cNvSpPr txBox="1"/>
          <p:nvPr/>
        </p:nvSpPr>
        <p:spPr>
          <a:xfrm>
            <a:off x="822960" y="960120"/>
            <a:ext cx="9509760" cy="384048"/>
          </a:xfrm>
          <a:prstGeom prst="rect">
            <a:avLst/>
          </a:prstGeom>
          <a:noFill/>
        </p:spPr>
        <p:txBody>
          <a:bodyPr wrap="square">
            <a:spAutoFit/>
          </a:bodyPr>
          <a:lstStyle/>
          <a:p>
            <a:pPr algn="l"/>
            <a:r>
              <a:rPr sz="2000" b="1">
                <a:solidFill>
                  <a:srgbClr val="1E1E1E"/>
                </a:solidFill>
                <a:latin typeface="Aptos"/>
              </a:rPr>
              <a:t>Crop-Level Economic Performance</a:t>
            </a:r>
          </a:p>
        </p:txBody>
      </p:sp>
      <p:pic>
        <p:nvPicPr>
          <p:cNvPr id="32" name="Picture 31" descr="crop_profitability.png"/>
          <p:cNvPicPr>
            <a:picLocks noChangeAspect="1"/>
          </p:cNvPicPr>
          <p:nvPr/>
        </p:nvPicPr>
        <p:blipFill>
          <a:blip r:embed="rId3"/>
          <a:stretch>
            <a:fillRect/>
          </a:stretch>
        </p:blipFill>
        <p:spPr>
          <a:xfrm>
            <a:off x="914400" y="1417320"/>
            <a:ext cx="8229600" cy="3794760"/>
          </a:xfrm>
          <a:prstGeom prst="rect">
            <a:avLst/>
          </a:prstGeom>
        </p:spPr>
      </p:pic>
      <p:sp>
        <p:nvSpPr>
          <p:cNvPr id="33" name="TextBox 32"/>
          <p:cNvSpPr txBox="1"/>
          <p:nvPr/>
        </p:nvSpPr>
        <p:spPr>
          <a:xfrm>
            <a:off x="914400" y="5321808"/>
            <a:ext cx="8412480" cy="502920"/>
          </a:xfrm>
          <a:prstGeom prst="rect">
            <a:avLst/>
          </a:prstGeom>
          <a:noFill/>
        </p:spPr>
        <p:txBody>
          <a:bodyPr wrap="square">
            <a:spAutoFit/>
          </a:bodyPr>
          <a:lstStyle/>
          <a:p>
            <a:pPr algn="ctr"/>
            <a:r>
              <a:rPr sz="1200" b="0">
                <a:solidFill>
                  <a:srgbClr val="464646"/>
                </a:solidFill>
                <a:latin typeface="Aptos"/>
              </a:rPr>
              <a:t>Average profitability differs substantially by crop, indicating that crop choice is an important analytical dimension.</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sp>
        <p:nvSpPr>
          <p:cNvPr id="31" name="TextBox 30"/>
          <p:cNvSpPr txBox="1"/>
          <p:nvPr/>
        </p:nvSpPr>
        <p:spPr>
          <a:xfrm>
            <a:off x="822960" y="960120"/>
            <a:ext cx="9509760" cy="384048"/>
          </a:xfrm>
          <a:prstGeom prst="rect">
            <a:avLst/>
          </a:prstGeom>
          <a:noFill/>
        </p:spPr>
        <p:txBody>
          <a:bodyPr wrap="square">
            <a:spAutoFit/>
          </a:bodyPr>
          <a:lstStyle/>
          <a:p>
            <a:pPr algn="l"/>
            <a:r>
              <a:rPr sz="2000" b="1">
                <a:solidFill>
                  <a:srgbClr val="1E1E1E"/>
                </a:solidFill>
                <a:latin typeface="Aptos"/>
              </a:rPr>
              <a:t>Regional &amp; Water-Efficiency Insights</a:t>
            </a:r>
          </a:p>
        </p:txBody>
      </p:sp>
      <p:pic>
        <p:nvPicPr>
          <p:cNvPr id="32" name="Picture 31" descr="state_yield.png"/>
          <p:cNvPicPr>
            <a:picLocks noChangeAspect="1"/>
          </p:cNvPicPr>
          <p:nvPr/>
        </p:nvPicPr>
        <p:blipFill>
          <a:blip r:embed="rId3"/>
          <a:stretch>
            <a:fillRect/>
          </a:stretch>
        </p:blipFill>
        <p:spPr>
          <a:xfrm>
            <a:off x="914400" y="1417320"/>
            <a:ext cx="8229600" cy="3794760"/>
          </a:xfrm>
          <a:prstGeom prst="rect">
            <a:avLst/>
          </a:prstGeom>
        </p:spPr>
      </p:pic>
      <p:sp>
        <p:nvSpPr>
          <p:cNvPr id="33" name="TextBox 32"/>
          <p:cNvSpPr txBox="1"/>
          <p:nvPr/>
        </p:nvSpPr>
        <p:spPr>
          <a:xfrm>
            <a:off x="914400" y="5321808"/>
            <a:ext cx="8412480" cy="502920"/>
          </a:xfrm>
          <a:prstGeom prst="rect">
            <a:avLst/>
          </a:prstGeom>
          <a:noFill/>
        </p:spPr>
        <p:txBody>
          <a:bodyPr wrap="square">
            <a:spAutoFit/>
          </a:bodyPr>
          <a:lstStyle/>
          <a:p>
            <a:pPr algn="ctr"/>
            <a:r>
              <a:rPr sz="1200" b="0">
                <a:solidFill>
                  <a:srgbClr val="464646"/>
                </a:solidFill>
                <a:latin typeface="Aptos"/>
              </a:rPr>
              <a:t>Average yield varies across states; water efficiency should be considered alongside production when comparing performance.</a:t>
            </a:r>
          </a:p>
        </p:txBody>
      </p:sp>
      <p:sp>
        <p:nvSpPr>
          <p:cNvPr id="34" name="TextBox 33"/>
          <p:cNvSpPr txBox="1"/>
          <p:nvPr/>
        </p:nvSpPr>
        <p:spPr>
          <a:xfrm>
            <a:off x="868680" y="5779008"/>
            <a:ext cx="8229600" cy="384048"/>
          </a:xfrm>
          <a:prstGeom prst="rect">
            <a:avLst/>
          </a:prstGeom>
          <a:noFill/>
        </p:spPr>
        <p:txBody>
          <a:bodyPr wrap="square">
            <a:spAutoFit/>
          </a:bodyPr>
          <a:lstStyle/>
          <a:p>
            <a:pPr algn="ctr"/>
            <a:r>
              <a:rPr sz="1000" b="0">
                <a:solidFill>
                  <a:srgbClr val="505050"/>
                </a:solidFill>
                <a:latin typeface="Aptos"/>
              </a:rPr>
              <a:t>Observed association: yield vs. water-efficiency correlation ≈ 0.92; this is correlation, not proof of causation.</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868680" y="1417320"/>
            <a:ext cx="8869680" cy="4206240"/>
          </a:xfrm>
          <a:prstGeom prst="rect">
            <a:avLst/>
          </a:prstGeom>
          <a:noFill/>
        </p:spPr>
        <p:txBody>
          <a:bodyPr wrap="square">
            <a:spAutoFit/>
          </a:bodyPr>
          <a:lstStyle/>
          <a:p>
            <a:pPr>
              <a:spcAft>
                <a:spcPts val="700"/>
              </a:spcAft>
            </a:pPr>
            <a:r>
              <a:rPr sz="1900">
                <a:solidFill>
                  <a:srgbClr val="232323"/>
                </a:solidFill>
                <a:latin typeface="Aptos"/>
              </a:rPr>
              <a:t>Build interactive Power BI/Tableau dashboards for seasonal monitoring</a:t>
            </a:r>
          </a:p>
          <a:p>
            <a:pPr>
              <a:spcAft>
                <a:spcPts val="700"/>
              </a:spcAft>
            </a:pPr>
            <a:r>
              <a:rPr sz="1900">
                <a:solidFill>
                  <a:srgbClr val="232323"/>
                </a:solidFill>
                <a:latin typeface="Aptos"/>
              </a:rPr>
              <a:t>Add predictive models for yield and profitability forecasting</a:t>
            </a:r>
          </a:p>
          <a:p>
            <a:pPr>
              <a:spcAft>
                <a:spcPts val="700"/>
              </a:spcAft>
            </a:pPr>
            <a:r>
              <a:rPr sz="1900">
                <a:solidFill>
                  <a:srgbClr val="232323"/>
                </a:solidFill>
                <a:latin typeface="Aptos"/>
              </a:rPr>
              <a:t>Explore weather and soil relationships in greater depth</a:t>
            </a:r>
          </a:p>
          <a:p>
            <a:pPr>
              <a:spcAft>
                <a:spcPts val="700"/>
              </a:spcAft>
            </a:pPr>
            <a:r>
              <a:rPr sz="1900">
                <a:solidFill>
                  <a:srgbClr val="232323"/>
                </a:solidFill>
                <a:latin typeface="Aptos"/>
              </a:rPr>
              <a:t>Develop crop- and region-specific recommendations</a:t>
            </a:r>
          </a:p>
          <a:p>
            <a:pPr>
              <a:spcAft>
                <a:spcPts val="700"/>
              </a:spcAft>
            </a:pPr>
            <a:r>
              <a:rPr sz="1900">
                <a:solidFill>
                  <a:srgbClr val="232323"/>
                </a:solidFill>
                <a:latin typeface="Aptos"/>
              </a:rPr>
              <a:t>Extend analysis with larger and real-time agricultural datasets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p:txBody>
      </p:sp>
      <p:sp>
        <p:nvSpPr>
          <p:cNvPr id="24" name="TextBox 23"/>
          <p:cNvSpPr txBox="1"/>
          <p:nvPr/>
        </p:nvSpPr>
        <p:spPr>
          <a:xfrm>
            <a:off x="822960" y="1417320"/>
            <a:ext cx="8595360" cy="1097280"/>
          </a:xfrm>
          <a:prstGeom prst="rect">
            <a:avLst/>
          </a:prstGeom>
          <a:noFill/>
        </p:spPr>
        <p:txBody>
          <a:bodyPr wrap="square">
            <a:spAutoFit/>
          </a:bodyPr>
          <a:lstStyle/>
          <a:p>
            <a:pPr algn="l"/>
            <a:r>
              <a:rPr sz="2000" b="1">
                <a:solidFill>
                  <a:srgbClr val="1E1E1E"/>
                </a:solidFill>
                <a:latin typeface="Aptos"/>
              </a:rPr>
              <a:t>GitHub repository: Add your project repository link here</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sz="2400" b="1"/>
              <a:t>VOIS Course Completion Certificate</a:t>
            </a:r>
            <a:br/>
            <a:r>
              <a:rPr sz="2400" b="1"/>
              <a:t>Course Name – Data Visualization</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sz="3200" b="1"/>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98</cp:revision>
  <dcterms:created xsi:type="dcterms:W3CDTF">2021-07-11T13:13:15Z</dcterms:created>
  <dcterms:modified xsi:type="dcterms:W3CDTF">2026-09-04T02:42:44Z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